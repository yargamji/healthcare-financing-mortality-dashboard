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-376" y="-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45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0B2A45"/>
                </a:solidFill>
                <a:latin typeface="Cambria"/>
              </a:rPr>
              <a:t>Average Neonatal Mortality Rate by Country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NMR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D726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7263D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7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United States</c:v>
                </c:pt>
                <c:pt idx="1">
                  <c:v>Ukraine</c:v>
                </c:pt>
                <c:pt idx="2">
                  <c:v>Yemen</c:v>
                </c:pt>
                <c:pt idx="3">
                  <c:v>Nigeria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4.07</c:v>
                </c:pt>
                <c:pt idx="1">
                  <c:v>6.95</c:v>
                </c:pt>
                <c:pt idx="2">
                  <c:v>27.26</c:v>
                </c:pt>
                <c:pt idx="3">
                  <c:v>38.64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44372480"/>
        <c:axId val="144374016"/>
      </c:barChart>
      <c:catAx>
        <c:axId val="1443724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144374016"/>
        <c:crosses val="autoZero"/>
        <c:auto val="1"/>
        <c:lblAlgn val="ctr"/>
        <c:lblOffset val="100"/>
        <c:noMultiLvlLbl val="1"/>
      </c:catAx>
      <c:valAx>
        <c:axId val="144374016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083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7083"/>
                    </a:solidFill>
                    <a:latin typeface="Arial"/>
                  </a:rPr>
                  <a:t>NMR per 1,000 live births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144372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DCF6D-7E5D-4278-B815-489218BDD566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061FB-2C5A-4B9B-8B68-B3C3C9B92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70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03120"/>
            <a:ext cx="4937760" cy="49377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4335" y="-914400"/>
            <a:ext cx="2743200" cy="274320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sd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12710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1488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&amp; VISUALIZATION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542032"/>
            <a:ext cx="1036289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Financing &amp;</a:t>
            </a:r>
            <a:endParaRPr lang="en-US" sz="40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 Reduction Dashboard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1463040" y="4160520"/>
            <a:ext cx="9265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SDG Health, Poverty &amp; Financing Indicators Across Nigeria, Ukraine, the United States &amp; Yemen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592928" y="5074920"/>
            <a:ext cx="1005840" cy="0"/>
          </a:xfrm>
          <a:prstGeom prst="line">
            <a:avLst/>
          </a:prstGeom>
          <a:noFill/>
          <a:ln w="25400">
            <a:solidFill>
              <a:srgbClr val="D72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Abdussamad Yargamji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0" y="5742432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Doctor  |  MSc Data Science </a:t>
            </a:r>
            <a:r>
              <a:rPr lang="en-US" sz="1150" dirty="0" smtClean="0">
                <a:solidFill>
                  <a:srgbClr val="9F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Scholar, </a:t>
            </a:r>
            <a:r>
              <a:rPr lang="en-US" sz="1150" dirty="0">
                <a:solidFill>
                  <a:srgbClr val="9F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University of Technology and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the SDGs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Scope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68503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64515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45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64515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Stakeholders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72200" y="176479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17647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172200" y="272491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72491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&amp; Definitions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172200" y="368503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368503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172200" y="4645152"/>
            <a:ext cx="502920" cy="50292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645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464515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SDGs Behind This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pove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93" y="231983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671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20240" y="24414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Poverty in All Its Forms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the population living below the international poverty line, by sex, age, employment status and location
</a:t>
            </a: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total government spending on essential services (education, health, social protection)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148840"/>
            <a:ext cx="777240" cy="777240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12" name="Image 1" descr="/home/claude/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673" y="231983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1671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589520" y="24414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Health &amp; Well-Being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320040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3.1.1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mortality ratio
</a:t>
            </a: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3.2.1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Under-5 mortality rate
</a:t>
            </a: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3.2.2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mortality rate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349240"/>
            <a:ext cx="104543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two goals frame the core question of this project: does how much a country invests in health and social protection change how many mothers, newborns, and children survive?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0B2A45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Nations Global SDG Data Portal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2128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unstats.un.org/sdgs/dataportal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3454298" cy="2651760"/>
          </a:xfrm>
          <a:prstGeom prst="roundRect">
            <a:avLst>
              <a:gd name="adj" fmla="val 4138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3291840"/>
            <a:ext cx="345429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777240" y="429768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</a:t>
            </a:r>
            <a:r>
              <a:rPr lang="en-US" sz="1450" b="1" dirty="0" smtClean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</a:p>
          <a:p>
            <a:pPr marL="0" indent="0" algn="ctr">
              <a:buNone/>
            </a:pPr>
            <a:r>
              <a:rPr lang="en-US" sz="1450" b="1" dirty="0" smtClean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World Bank Income Grouping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4800600"/>
            <a:ext cx="29056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· Ukraine · United States · Yemen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68698" y="3063240"/>
            <a:ext cx="3454298" cy="2651760"/>
          </a:xfrm>
          <a:prstGeom prst="roundRect">
            <a:avLst>
              <a:gd name="adj" fmla="val 4138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68698" y="3291840"/>
            <a:ext cx="345429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4597298" y="429768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643018" y="4800600"/>
            <a:ext cx="29056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trend, 2000 – 2023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88757" y="3063240"/>
            <a:ext cx="3454298" cy="2651760"/>
          </a:xfrm>
          <a:prstGeom prst="roundRect">
            <a:avLst>
              <a:gd name="adj" fmla="val 4138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88757" y="3291840"/>
            <a:ext cx="345429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6"/>
          <p:cNvSpPr/>
          <p:nvPr/>
        </p:nvSpPr>
        <p:spPr>
          <a:xfrm>
            <a:off x="8417357" y="429768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Health Indicators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463077" y="4800600"/>
            <a:ext cx="29056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· U5MR · NMR, cross-referenced with financing &amp; poverty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Microsoft Power BI  ·  Modeling: Power Query + DAX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03120"/>
            <a:ext cx="4937760" cy="49377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4335" y="-914400"/>
            <a:ext cx="2743200" cy="274320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2928" y="12344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14859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514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2971800"/>
            <a:ext cx="871697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analyze the relationship between healthcare financing, poverty, and mortality indicators — guiding policy decisions toward achieving the Sustainable Development Goals by 2030.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592928" y="5532120"/>
            <a:ext cx="1005840" cy="0"/>
          </a:xfrm>
          <a:prstGeom prst="line">
            <a:avLst/>
          </a:prstGeom>
          <a:noFill/>
          <a:ln w="25400">
            <a:solidFill>
              <a:srgbClr val="D726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Analysis Serves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499284" cy="2834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5362" y="2788920"/>
            <a:ext cx="1005840" cy="1005840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6" name="Image 0" descr="/home/claude/icons/gov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22" y="30403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97764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Governor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413684" y="2377440"/>
            <a:ext cx="2499284" cy="2834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60406" y="27889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866" y="30403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0844" y="397764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for Health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78728" y="2377440"/>
            <a:ext cx="2499284" cy="2834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25450" y="2788920"/>
            <a:ext cx="1005840" cy="1005840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14" name="Image 2" descr="/home/claude/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910" y="30403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15888" y="397764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for Budget &amp; Planning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9143771" y="2377440"/>
            <a:ext cx="2499284" cy="2834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890493" y="27889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icons/sp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953" y="30403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0931" y="3977640"/>
            <a:ext cx="22249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Finance Officials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Decision-Makers responsible for translating dashboard insight into budget and policy action.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3000" b="1" dirty="0" smtClean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</a:t>
            </a: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B2A45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54480" y="3703320"/>
            <a:ext cx="1280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31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Fully interactive.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country and year to explore every indicator on demand.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558388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975104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0" descr="/home/claude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213512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66360" y="1828800"/>
            <a:ext cx="2461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Target Gauges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66360" y="2203704"/>
            <a:ext cx="24611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NMR, U5MR &amp; MMR vs. official SDG targets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84668" y="1691640"/>
            <a:ext cx="3558388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85836" y="197510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856" y="2135124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044788" y="1828800"/>
            <a:ext cx="2461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Gap Analysis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044788" y="2203704"/>
            <a:ext cx="24611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NMR ranked by country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206240" y="3081528"/>
            <a:ext cx="3558388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07408" y="336499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352501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66360" y="3218688"/>
            <a:ext cx="2461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Mortality Trend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166360" y="3593592"/>
            <a:ext cx="24611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trend, 2000 – 2023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084668" y="3081528"/>
            <a:ext cx="3558388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85836" y="3364992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6" name="Image 3" descr="/home/claude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856" y="352501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44788" y="3218688"/>
            <a:ext cx="2461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vs. MMR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044788" y="3593592"/>
            <a:ext cx="24611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financing against maternal mortality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206240" y="4471416"/>
            <a:ext cx="3558388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407408" y="4754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4" descr="/home/claude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49149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166360" y="4608576"/>
            <a:ext cx="2461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vs. Under-5 Mortality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166360" y="4983480"/>
            <a:ext cx="24611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share against child mortality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084668" y="4471416"/>
            <a:ext cx="3558388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85836" y="4754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5" descr="/home/claude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856" y="491490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44788" y="4608576"/>
            <a:ext cx="2461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Year Filters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044788" y="4983480"/>
            <a:ext cx="24611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every visual in one click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— Maternal Mortality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777240" cy="777240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6" name="Image 0" descr="/home/claude/icons/ma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93" y="222839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Maternal Mortality (MM)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death of a woman while pregnant or within 42 days of termination of pregnancy, from any cause related to or aggravated by the pregnancy or its management — but not from accidental or incidental causes.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53492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0B2A45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057400"/>
            <a:ext cx="777240" cy="7772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2" name="Image 1" descr="/home/claude/icons/rat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673" y="222839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0632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Maternal Mortality Ratio (MMR)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83680" y="365760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women who die from pregnancy-related causes, per 100,000 live births.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4480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100,000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583680" y="500176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births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83680" y="542239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— Child Mortality &amp; Poverty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4114800"/>
          </a:xfrm>
          <a:prstGeom prst="roundRect">
            <a:avLst>
              <a:gd name="adj" fmla="val 3177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64309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neona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360" y="21927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Neonatal Mortality Rate (NMR)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90565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within the first 28 completed days of life, per 1,000 live births.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5001768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1,000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5367528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68698" y="1691640"/>
            <a:ext cx="3454298" cy="4114800"/>
          </a:xfrm>
          <a:prstGeom prst="roundRect">
            <a:avLst>
              <a:gd name="adj" fmla="val 3177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84368" y="201168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3" name="Image 1" descr="/home/claude/icons/under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419" y="219273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7298" y="3017520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Under-5 Mortality Rate (U5MR)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3018" y="3840480"/>
            <a:ext cx="290565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 newborn dies before reaching exactly 5 years of age, per 1,000 live births.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97298" y="5001768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1,000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97298" y="5367528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UNICEF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88757" y="1691640"/>
            <a:ext cx="3454298" cy="4114800"/>
          </a:xfrm>
          <a:prstGeom prst="roundRect">
            <a:avLst>
              <a:gd name="adj" fmla="val 3177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04426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icons/pover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477" y="219273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7357" y="3017520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Below the Poverty Line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63077" y="3840480"/>
            <a:ext cx="290565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surviving on less than $3.00 per person, per day.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417357" y="5001768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$3.00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417357" y="5367528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Snapshot: Mortality vs. SDG Targets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448288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221992"/>
                <a:gridCol w="2221992"/>
                <a:gridCol w="2221992"/>
                <a:gridCol w="1856232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(target ≤ 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U5MR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(target ≤ 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(target ≤ 70)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Ukraine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shown per 100,000 live births · NMR and U5MR shown per 1,000 live births · Targets reflect UN SDG 2030 thresholds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FCEAEC"/>
          </a:solidFill>
          <a:ln w="12700">
            <a:solidFill>
              <a:srgbClr val="F0BFC6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5394960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8" name="Image 0" descr="/home/claude/icons/fi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543550"/>
            <a:ext cx="297180" cy="297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5166360"/>
            <a:ext cx="97228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and Yemen exceed every SDG mortality target — Nigeria’s MMR is over 15x the SDG threshold.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4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 Lags Behind on Every Indicator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53535" cy="4206240"/>
          </a:xfrm>
          <a:prstGeom prst="roundRect">
            <a:avLst>
              <a:gd name="adj" fmla="val 2707"/>
            </a:avLst>
          </a:prstGeom>
          <a:solidFill>
            <a:srgbClr val="0B2A45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965960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2030 TARGET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863840" y="2212848"/>
            <a:ext cx="3504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NMR ≤ 12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863840" y="2880360"/>
            <a:ext cx="3504895" cy="0"/>
          </a:xfrm>
          <a:prstGeom prst="line">
            <a:avLst/>
          </a:prstGeom>
          <a:noFill/>
          <a:ln w="12700">
            <a:solidFill>
              <a:srgbClr val="1239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3063240"/>
            <a:ext cx="350489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Nigeria: 38.64 — more than 3x the target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Yemen: 27.26 — over 2x the target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&amp; the US already meet the target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 Is Falling — But Too Slowly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949440" cy="3642104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pic>
        <p:nvPicPr>
          <p:cNvPr id="5" name="Image 0" descr="/home/claude/crop_nmr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6492240" cy="2864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15086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Neonatal Mortality Rate by Year and Country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63840" y="2057400"/>
            <a:ext cx="37792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mortality is declining across all four countries — but Nigeria and Yemen remain far above the SDG target, and the pace of decline is too slow to close the gap by 2030.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863840" y="4069080"/>
            <a:ext cx="3779215" cy="1828800"/>
          </a:xfrm>
          <a:prstGeom prst="roundRect">
            <a:avLst>
              <a:gd name="adj" fmla="val 6000"/>
            </a:avLst>
          </a:prstGeom>
          <a:solidFill>
            <a:srgbClr val="FCEAEC"/>
          </a:solidFill>
          <a:ln w="12700">
            <a:solidFill>
              <a:srgbClr val="F0BFC6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4251960"/>
            <a:ext cx="3322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PACE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92440" y="4526280"/>
            <a:ext cx="33220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will not reach the SDG neonatal mortality target of 12 by 2030 without accelerated intervention.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Health Spending, Fewer Maternal Deaths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Mortality Ratio falls as government spending on health rises. The United States spends the most on health and records the lowest MMR — Nigeria spends the least proportionally and records the highest.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E7F0F7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431596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sp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464558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41605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well-targeted health financing is one of the clearest levers available to reduce maternal deaths.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57800" y="1874520"/>
            <a:ext cx="6583680" cy="3125231"/>
          </a:xfrm>
          <a:prstGeom prst="roundRect">
            <a:avLst>
              <a:gd name="adj" fmla="val 3511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pic>
        <p:nvPicPr>
          <p:cNvPr id="10" name="Image 1" descr="/home/claude/crop_govt_mm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103120"/>
            <a:ext cx="6126480" cy="23479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4588271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Proportion of Govt. Health Spending vs. Average MMR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Poverty Is a Powerful Driver of Child Mortality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03520" cy="4332667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pic>
        <p:nvPicPr>
          <p:cNvPr id="5" name="Image 0" descr="/home/claude/crop_pov_u5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4846320" cy="3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749987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Proportion Below Poverty Line vs. Average U5M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80760" y="1965960"/>
            <a:ext cx="55622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and Yemen have both the highest proportion of population below the poverty line and the highest Under-5 mortality rates in the comparison set.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080760" y="4023360"/>
            <a:ext cx="5562295" cy="1965960"/>
          </a:xfrm>
          <a:prstGeom prst="roundRect">
            <a:avLst>
              <a:gd name="adj" fmla="val 5581"/>
            </a:avLst>
          </a:prstGeom>
          <a:solidFill>
            <a:srgbClr val="FCEAEC"/>
          </a:solidFill>
          <a:ln w="12700">
            <a:solidFill>
              <a:srgbClr val="F0BFC6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4206240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0" y="4480560"/>
            <a:ext cx="5105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reduction is not just an economic goal — it is a direct lever for child survival.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4298" cy="420624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18589" y="21488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sp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757" y="23500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9056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&amp; Target Health Financing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9056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increased, more efficient healthcare funding toward maternal and neonatal services where the gap to target is widest.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1783080"/>
            <a:ext cx="3454298" cy="4206240"/>
          </a:xfrm>
          <a:prstGeom prst="roundRect">
            <a:avLst>
              <a:gd name="adj" fmla="val 3177"/>
            </a:avLst>
          </a:prstGeom>
          <a:solidFill>
            <a:srgbClr val="0B2A45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8648" y="2148840"/>
            <a:ext cx="914400" cy="9144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2" name="Image 1" descr="/home/claude/icons/hel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5000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3018" y="3291840"/>
            <a:ext cx="29056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43018" y="36118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Poverty-Reduction Programs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43018" y="4480560"/>
            <a:ext cx="29056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health financing with poverty-reduction and social-protection programs — poverty is a leading driver of child mortality.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88757" y="1783080"/>
            <a:ext cx="3454298" cy="420624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101600" dist="38100" dir="5400000" algn="bl" rotWithShape="0">
              <a:srgbClr val="0B2A45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58706" y="21488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trop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9874" y="235000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3077" y="3291840"/>
            <a:ext cx="29056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63077" y="36118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NMR, U5MR &amp; MMR in SDG Strategy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463077" y="4480560"/>
            <a:ext cx="29056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these three indicators an explicit, tracked priority within the national 2030 SDG strategy and annual budget planning.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03120"/>
            <a:ext cx="4937760" cy="49377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4335" y="-914400"/>
            <a:ext cx="2743200" cy="274320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Track, But Not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Reach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is currently off track to meet the 2030 SDG targets for neonatal, under-5, and maternal mortality. Although mortality rates are declining, the pace of reduction is insufficient. The analysis reveals strong relationships between healthcare funding, poverty, and mortality outcomes — pointing clearly toward where policy action can have the greatest impact.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FINANCING &amp; MORTALITY REDUCTION DASHBOARD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03120"/>
            <a:ext cx="4937760" cy="49377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4335" y="-914400"/>
            <a:ext cx="2743200" cy="274320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ln w="25400">
            <a:solidFill>
              <a:srgbClr val="1239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446" y="16331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592928" y="3520440"/>
            <a:ext cx="1005840" cy="0"/>
          </a:xfrm>
          <a:prstGeom prst="line">
            <a:avLst/>
          </a:prstGeom>
          <a:noFill/>
          <a:ln w="25400">
            <a:solidFill>
              <a:srgbClr val="D72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3703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Abdussamad Yargamji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0" y="4096512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Doctor  |  MSc Data Science </a:t>
            </a:r>
            <a:r>
              <a:rPr lang="en-US" sz="1250" dirty="0" smtClean="0">
                <a:solidFill>
                  <a:srgbClr val="9F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0" y="440740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University of Technology and Management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1194</Words>
  <Application>Microsoft Office PowerPoint</Application>
  <PresentationFormat>Custom</PresentationFormat>
  <Paragraphs>221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Abdussamad Yargamji Garba</cp:lastModifiedBy>
  <cp:revision>3</cp:revision>
  <dcterms:created xsi:type="dcterms:W3CDTF">2026-08-30T11:14:53Z</dcterms:created>
  <dcterms:modified xsi:type="dcterms:W3CDTF">2026-08-30T17:23:36Z</dcterms:modified>
</cp:coreProperties>
</file>